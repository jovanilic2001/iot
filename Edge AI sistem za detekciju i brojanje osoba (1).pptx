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ton" charset="1" panose="00000500000000000000"/>
      <p:regular r:id="rId15"/>
    </p:embeddedFont>
    <p:embeddedFont>
      <p:font typeface="Krub" charset="1" panose="00000500000000000000"/>
      <p:regular r:id="rId16"/>
    </p:embeddedFont>
    <p:embeddedFont>
      <p:font typeface="Krub Bold" charset="1" panose="00000800000000000000"/>
      <p:regular r:id="rId17"/>
    </p:embeddedFont>
    <p:embeddedFont>
      <p:font typeface="Open Sans" charset="1" panose="020B06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8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8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8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9312" y="2112267"/>
            <a:ext cx="11329376" cy="480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11"/>
              </a:lnSpc>
            </a:pPr>
            <a:r>
              <a:rPr lang="en-US" sz="10687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Edge AI sistem za detekciju i brojanje osoba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52637" y="-721895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8884" y="7041092"/>
            <a:ext cx="5174922" cy="5172766"/>
          </a:xfrm>
          <a:custGeom>
            <a:avLst/>
            <a:gdLst/>
            <a:ahLst/>
            <a:cxnLst/>
            <a:rect r="r" b="b" t="t" l="l"/>
            <a:pathLst>
              <a:path h="5172766" w="5174922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22918" y="4783378"/>
            <a:ext cx="6733446" cy="7030847"/>
          </a:xfrm>
          <a:custGeom>
            <a:avLst/>
            <a:gdLst/>
            <a:ahLst/>
            <a:cxnLst/>
            <a:rect r="r" b="b" t="t" l="l"/>
            <a:pathLst>
              <a:path h="7030847" w="6733446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82600" y="-1557683"/>
            <a:ext cx="5174922" cy="5172766"/>
          </a:xfrm>
          <a:custGeom>
            <a:avLst/>
            <a:gdLst/>
            <a:ahLst/>
            <a:cxnLst/>
            <a:rect r="r" b="b" t="t" l="l"/>
            <a:pathLst>
              <a:path h="5172766" w="5174922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588768" y="7041092"/>
            <a:ext cx="7110463" cy="880311"/>
            <a:chOff x="0" y="0"/>
            <a:chExt cx="1872715" cy="231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72715" cy="231851"/>
            </a:xfrm>
            <a:custGeom>
              <a:avLst/>
              <a:gdLst/>
              <a:ahLst/>
              <a:cxnLst/>
              <a:rect r="r" b="b" t="t" l="l"/>
              <a:pathLst>
                <a:path h="231851" w="1872715">
                  <a:moveTo>
                    <a:pt x="55121" y="0"/>
                  </a:moveTo>
                  <a:lnTo>
                    <a:pt x="1817594" y="0"/>
                  </a:lnTo>
                  <a:cubicBezTo>
                    <a:pt x="1832213" y="0"/>
                    <a:pt x="1846233" y="5807"/>
                    <a:pt x="1856570" y="16145"/>
                  </a:cubicBezTo>
                  <a:cubicBezTo>
                    <a:pt x="1866907" y="26482"/>
                    <a:pt x="1872715" y="40502"/>
                    <a:pt x="1872715" y="55121"/>
                  </a:cubicBezTo>
                  <a:lnTo>
                    <a:pt x="1872715" y="176730"/>
                  </a:lnTo>
                  <a:cubicBezTo>
                    <a:pt x="1872715" y="207173"/>
                    <a:pt x="1848036" y="231851"/>
                    <a:pt x="1817594" y="231851"/>
                  </a:cubicBezTo>
                  <a:lnTo>
                    <a:pt x="55121" y="231851"/>
                  </a:lnTo>
                  <a:cubicBezTo>
                    <a:pt x="24678" y="231851"/>
                    <a:pt x="0" y="207173"/>
                    <a:pt x="0" y="176730"/>
                  </a:cubicBezTo>
                  <a:lnTo>
                    <a:pt x="0" y="55121"/>
                  </a:lnTo>
                  <a:cubicBezTo>
                    <a:pt x="0" y="24678"/>
                    <a:pt x="24678" y="0"/>
                    <a:pt x="551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72715" cy="269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00712" y="-1889926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321493">
            <a:off x="6300712" y="8352127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06584" y="6955367"/>
            <a:ext cx="9674832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Huawei Atlas 200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175559"/>
            <a:ext cx="10517519" cy="89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Cilj projekta i hardver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61917" y="2710917"/>
            <a:ext cx="5271005" cy="5518683"/>
            <a:chOff x="0" y="0"/>
            <a:chExt cx="1388248" cy="14534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8248" cy="1453480"/>
            </a:xfrm>
            <a:custGeom>
              <a:avLst/>
              <a:gdLst/>
              <a:ahLst/>
              <a:cxnLst/>
              <a:rect r="r" b="b" t="t" l="l"/>
              <a:pathLst>
                <a:path h="1453480" w="1388248">
                  <a:moveTo>
                    <a:pt x="74357" y="0"/>
                  </a:moveTo>
                  <a:lnTo>
                    <a:pt x="1313892" y="0"/>
                  </a:lnTo>
                  <a:cubicBezTo>
                    <a:pt x="1333612" y="0"/>
                    <a:pt x="1352525" y="7834"/>
                    <a:pt x="1366470" y="21779"/>
                  </a:cubicBezTo>
                  <a:cubicBezTo>
                    <a:pt x="1380414" y="35723"/>
                    <a:pt x="1388248" y="54636"/>
                    <a:pt x="1388248" y="74357"/>
                  </a:cubicBezTo>
                  <a:lnTo>
                    <a:pt x="1388248" y="1379124"/>
                  </a:lnTo>
                  <a:cubicBezTo>
                    <a:pt x="1388248" y="1398844"/>
                    <a:pt x="1380414" y="1417757"/>
                    <a:pt x="1366470" y="1431702"/>
                  </a:cubicBezTo>
                  <a:cubicBezTo>
                    <a:pt x="1352525" y="1445646"/>
                    <a:pt x="1333612" y="1453480"/>
                    <a:pt x="1313892" y="1453480"/>
                  </a:cubicBezTo>
                  <a:lnTo>
                    <a:pt x="74357" y="1453480"/>
                  </a:lnTo>
                  <a:cubicBezTo>
                    <a:pt x="54636" y="1453480"/>
                    <a:pt x="35723" y="1445646"/>
                    <a:pt x="21779" y="1431702"/>
                  </a:cubicBezTo>
                  <a:cubicBezTo>
                    <a:pt x="7834" y="1417757"/>
                    <a:pt x="0" y="1398844"/>
                    <a:pt x="0" y="1379124"/>
                  </a:cubicBezTo>
                  <a:lnTo>
                    <a:pt x="0" y="74357"/>
                  </a:lnTo>
                  <a:cubicBezTo>
                    <a:pt x="0" y="54636"/>
                    <a:pt x="7834" y="35723"/>
                    <a:pt x="21779" y="21779"/>
                  </a:cubicBezTo>
                  <a:cubicBezTo>
                    <a:pt x="35723" y="7834"/>
                    <a:pt x="54636" y="0"/>
                    <a:pt x="743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8248" cy="1491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34015" y="7458821"/>
            <a:ext cx="5924025" cy="4546689"/>
          </a:xfrm>
          <a:custGeom>
            <a:avLst/>
            <a:gdLst/>
            <a:ahLst/>
            <a:cxnLst/>
            <a:rect r="r" b="b" t="t" l="l"/>
            <a:pathLst>
              <a:path h="4546689" w="5924025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24918" y="2936113"/>
            <a:ext cx="9071109" cy="5133871"/>
            <a:chOff x="0" y="0"/>
            <a:chExt cx="2389099" cy="13521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099" cy="1352131"/>
            </a:xfrm>
            <a:custGeom>
              <a:avLst/>
              <a:gdLst/>
              <a:ahLst/>
              <a:cxnLst/>
              <a:rect r="r" b="b" t="t" l="l"/>
              <a:pathLst>
                <a:path h="1352131" w="2389099">
                  <a:moveTo>
                    <a:pt x="43207" y="0"/>
                  </a:moveTo>
                  <a:lnTo>
                    <a:pt x="2345892" y="0"/>
                  </a:lnTo>
                  <a:cubicBezTo>
                    <a:pt x="2357351" y="0"/>
                    <a:pt x="2368341" y="4552"/>
                    <a:pt x="2376444" y="12655"/>
                  </a:cubicBezTo>
                  <a:cubicBezTo>
                    <a:pt x="2384547" y="20758"/>
                    <a:pt x="2389099" y="31748"/>
                    <a:pt x="2389099" y="43207"/>
                  </a:cubicBezTo>
                  <a:lnTo>
                    <a:pt x="2389099" y="1308924"/>
                  </a:lnTo>
                  <a:cubicBezTo>
                    <a:pt x="2389099" y="1320383"/>
                    <a:pt x="2384547" y="1331373"/>
                    <a:pt x="2376444" y="1339476"/>
                  </a:cubicBezTo>
                  <a:cubicBezTo>
                    <a:pt x="2368341" y="1347579"/>
                    <a:pt x="2357351" y="1352131"/>
                    <a:pt x="2345892" y="1352131"/>
                  </a:cubicBezTo>
                  <a:lnTo>
                    <a:pt x="43207" y="1352131"/>
                  </a:lnTo>
                  <a:cubicBezTo>
                    <a:pt x="31748" y="1352131"/>
                    <a:pt x="20758" y="1347579"/>
                    <a:pt x="12655" y="1339476"/>
                  </a:cubicBezTo>
                  <a:cubicBezTo>
                    <a:pt x="4552" y="1331373"/>
                    <a:pt x="0" y="1320383"/>
                    <a:pt x="0" y="1308924"/>
                  </a:cubicBezTo>
                  <a:lnTo>
                    <a:pt x="0" y="43207"/>
                  </a:lnTo>
                  <a:cubicBezTo>
                    <a:pt x="0" y="31748"/>
                    <a:pt x="4552" y="20758"/>
                    <a:pt x="12655" y="12655"/>
                  </a:cubicBezTo>
                  <a:cubicBezTo>
                    <a:pt x="20758" y="4552"/>
                    <a:pt x="31748" y="0"/>
                    <a:pt x="432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89099" cy="139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10844" y="3956558"/>
            <a:ext cx="4733713" cy="265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831" indent="-235416" lvl="1">
              <a:lnSpc>
                <a:spcPts val="3053"/>
              </a:lnSpc>
              <a:buFont typeface="Arial"/>
              <a:buChar char="•"/>
            </a:pPr>
            <a:r>
              <a:rPr lang="en-US" sz="2180" spc="23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Detekcija i brojanje osoba u video signalu</a:t>
            </a:r>
          </a:p>
          <a:p>
            <a:pPr algn="l" marL="470831" indent="-235416" lvl="1">
              <a:lnSpc>
                <a:spcPts val="3053"/>
              </a:lnSpc>
              <a:buFont typeface="Arial"/>
              <a:buChar char="•"/>
            </a:pPr>
            <a:r>
              <a:rPr lang="en-US" sz="2180" spc="23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Prikaz pouzdanosti i ukupnog broja osoba</a:t>
            </a:r>
          </a:p>
          <a:p>
            <a:pPr algn="l" marL="470831" indent="-235416" lvl="1">
              <a:lnSpc>
                <a:spcPts val="3053"/>
              </a:lnSpc>
              <a:buFont typeface="Arial"/>
              <a:buChar char="•"/>
            </a:pPr>
            <a:r>
              <a:rPr lang="en-US" sz="2180" spc="23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Merenje performansi</a:t>
            </a:r>
          </a:p>
          <a:p>
            <a:pPr algn="l" marL="470831" indent="-235416" lvl="1">
              <a:lnSpc>
                <a:spcPts val="3053"/>
              </a:lnSpc>
              <a:buFont typeface="Arial"/>
              <a:buChar char="•"/>
            </a:pPr>
            <a:r>
              <a:rPr lang="en-US" sz="2180" spc="23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Alarm pri prekaračenju dozvoljenog broja osoba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4263" y="4654264"/>
            <a:ext cx="8025299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spc="30" b="true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Huawei Atlas 200 Developer Kit</a:t>
            </a:r>
          </a:p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Ascend 310 (NPU) - Ubuntu 18.04.5(aarch64) - headless uređaj</a:t>
            </a:r>
          </a:p>
        </p:txBody>
      </p:sp>
      <p:sp>
        <p:nvSpPr>
          <p:cNvPr name="Freeform 14" id="14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39681" y="2840863"/>
            <a:ext cx="11368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Cilj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3545" y="7066210"/>
            <a:ext cx="4083401" cy="78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4"/>
              </a:lnSpc>
            </a:pPr>
            <a:r>
              <a:rPr lang="en-US" sz="2295" spc="25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Edge pristup: obrada bez interneta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70447" y="3117088"/>
            <a:ext cx="26635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Hardver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4263" y="6279337"/>
            <a:ext cx="8025299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spc="30" b="true">
                <a:solidFill>
                  <a:srgbClr val="090147"/>
                </a:solidFill>
                <a:latin typeface="Krub Bold"/>
                <a:ea typeface="Krub Bold"/>
                <a:cs typeface="Krub Bold"/>
                <a:sym typeface="Krub Bold"/>
              </a:rPr>
              <a:t>Kamera: mobilni telefon</a:t>
            </a:r>
          </a:p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090147"/>
                </a:solidFill>
                <a:latin typeface="Krub"/>
                <a:ea typeface="Krub"/>
                <a:cs typeface="Krub"/>
                <a:sym typeface="Krub"/>
              </a:rPr>
              <a:t>IP Webcam aplikacija - MJPEG stream preko WiFi mreže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289" y="3086100"/>
            <a:ext cx="4869734" cy="2188432"/>
            <a:chOff x="0" y="0"/>
            <a:chExt cx="1282564" cy="576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564" cy="576377"/>
            </a:xfrm>
            <a:custGeom>
              <a:avLst/>
              <a:gdLst/>
              <a:ahLst/>
              <a:cxnLst/>
              <a:rect r="r" b="b" t="t" l="l"/>
              <a:pathLst>
                <a:path h="576377" w="1282564">
                  <a:moveTo>
                    <a:pt x="80484" y="0"/>
                  </a:moveTo>
                  <a:lnTo>
                    <a:pt x="1202080" y="0"/>
                  </a:lnTo>
                  <a:cubicBezTo>
                    <a:pt x="1246530" y="0"/>
                    <a:pt x="1282564" y="36034"/>
                    <a:pt x="1282564" y="80484"/>
                  </a:cubicBezTo>
                  <a:lnTo>
                    <a:pt x="1282564" y="495893"/>
                  </a:lnTo>
                  <a:cubicBezTo>
                    <a:pt x="1282564" y="540343"/>
                    <a:pt x="1246530" y="576377"/>
                    <a:pt x="1202080" y="576377"/>
                  </a:cubicBezTo>
                  <a:lnTo>
                    <a:pt x="80484" y="576377"/>
                  </a:lnTo>
                  <a:cubicBezTo>
                    <a:pt x="36034" y="576377"/>
                    <a:pt x="0" y="540343"/>
                    <a:pt x="0" y="495893"/>
                  </a:cubicBezTo>
                  <a:lnTo>
                    <a:pt x="0" y="80484"/>
                  </a:lnTo>
                  <a:cubicBezTo>
                    <a:pt x="0" y="36034"/>
                    <a:pt x="36034" y="0"/>
                    <a:pt x="804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564" cy="61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39995" y="8825386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08389" y="8013655"/>
            <a:ext cx="5924025" cy="4546689"/>
          </a:xfrm>
          <a:custGeom>
            <a:avLst/>
            <a:gdLst/>
            <a:ahLst/>
            <a:cxnLst/>
            <a:rect r="r" b="b" t="t" l="l"/>
            <a:pathLst>
              <a:path h="4546689" w="5924025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709133" y="3086100"/>
            <a:ext cx="4869734" cy="2188432"/>
            <a:chOff x="0" y="0"/>
            <a:chExt cx="1282564" cy="5763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564" cy="576377"/>
            </a:xfrm>
            <a:custGeom>
              <a:avLst/>
              <a:gdLst/>
              <a:ahLst/>
              <a:cxnLst/>
              <a:rect r="r" b="b" t="t" l="l"/>
              <a:pathLst>
                <a:path h="576377" w="1282564">
                  <a:moveTo>
                    <a:pt x="80484" y="0"/>
                  </a:moveTo>
                  <a:lnTo>
                    <a:pt x="1202080" y="0"/>
                  </a:lnTo>
                  <a:cubicBezTo>
                    <a:pt x="1246530" y="0"/>
                    <a:pt x="1282564" y="36034"/>
                    <a:pt x="1282564" y="80484"/>
                  </a:cubicBezTo>
                  <a:lnTo>
                    <a:pt x="1282564" y="495893"/>
                  </a:lnTo>
                  <a:cubicBezTo>
                    <a:pt x="1282564" y="540343"/>
                    <a:pt x="1246530" y="576377"/>
                    <a:pt x="1202080" y="576377"/>
                  </a:cubicBezTo>
                  <a:lnTo>
                    <a:pt x="80484" y="576377"/>
                  </a:lnTo>
                  <a:cubicBezTo>
                    <a:pt x="36034" y="576377"/>
                    <a:pt x="0" y="540343"/>
                    <a:pt x="0" y="495893"/>
                  </a:cubicBezTo>
                  <a:lnTo>
                    <a:pt x="0" y="80484"/>
                  </a:lnTo>
                  <a:cubicBezTo>
                    <a:pt x="0" y="36034"/>
                    <a:pt x="36034" y="0"/>
                    <a:pt x="804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564" cy="61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36142" y="3086100"/>
            <a:ext cx="4869734" cy="2188432"/>
            <a:chOff x="0" y="0"/>
            <a:chExt cx="1282564" cy="5763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564" cy="576377"/>
            </a:xfrm>
            <a:custGeom>
              <a:avLst/>
              <a:gdLst/>
              <a:ahLst/>
              <a:cxnLst/>
              <a:rect r="r" b="b" t="t" l="l"/>
              <a:pathLst>
                <a:path h="576377" w="1282564">
                  <a:moveTo>
                    <a:pt x="80484" y="0"/>
                  </a:moveTo>
                  <a:lnTo>
                    <a:pt x="1202080" y="0"/>
                  </a:lnTo>
                  <a:cubicBezTo>
                    <a:pt x="1246530" y="0"/>
                    <a:pt x="1282564" y="36034"/>
                    <a:pt x="1282564" y="80484"/>
                  </a:cubicBezTo>
                  <a:lnTo>
                    <a:pt x="1282564" y="495893"/>
                  </a:lnTo>
                  <a:cubicBezTo>
                    <a:pt x="1282564" y="540343"/>
                    <a:pt x="1246530" y="576377"/>
                    <a:pt x="1202080" y="576377"/>
                  </a:cubicBezTo>
                  <a:lnTo>
                    <a:pt x="80484" y="576377"/>
                  </a:lnTo>
                  <a:cubicBezTo>
                    <a:pt x="36034" y="576377"/>
                    <a:pt x="0" y="540343"/>
                    <a:pt x="0" y="495893"/>
                  </a:cubicBezTo>
                  <a:lnTo>
                    <a:pt x="0" y="80484"/>
                  </a:lnTo>
                  <a:cubicBezTo>
                    <a:pt x="0" y="36034"/>
                    <a:pt x="36034" y="0"/>
                    <a:pt x="804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564" cy="61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20573" y="1171575"/>
            <a:ext cx="12246855" cy="89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Arhitektura sistema i mreža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5456" y="3515599"/>
            <a:ext cx="4083401" cy="6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Telefon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4101" y="4397470"/>
            <a:ext cx="3406111" cy="33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IP Webcam · MJPEG stream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02300" y="3515599"/>
            <a:ext cx="4083401" cy="6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Atlas 200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11246" y="4397470"/>
            <a:ext cx="2865507" cy="33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Detekcija osoba · alarm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29308" y="3515599"/>
            <a:ext cx="4083401" cy="6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Računar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36382" y="4397470"/>
            <a:ext cx="3062090" cy="33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Razvoj · analiza rezultata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55951" y="3705306"/>
            <a:ext cx="649255" cy="87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  <a:spcBef>
                <a:spcPct val="0"/>
              </a:spcBef>
            </a:pPr>
            <a:r>
              <a:rPr lang="en-US" sz="51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78892" y="3754414"/>
            <a:ext cx="649255" cy="87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  <a:spcBef>
                <a:spcPct val="0"/>
              </a:spcBef>
            </a:pPr>
            <a:r>
              <a:rPr lang="en-US" sz="51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86962" y="6431064"/>
            <a:ext cx="14242390" cy="2799687"/>
            <a:chOff x="0" y="0"/>
            <a:chExt cx="18989853" cy="373291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414139" y="252379"/>
              <a:ext cx="5444534" cy="67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4"/>
                </a:lnSpc>
              </a:pPr>
              <a:r>
                <a:rPr lang="en-US" sz="3095" spc="34" b="true">
                  <a:solidFill>
                    <a:srgbClr val="FFFFFF"/>
                  </a:solidFill>
                  <a:latin typeface="Krub Bold"/>
                  <a:ea typeface="Krub Bold"/>
                  <a:cs typeface="Krub Bold"/>
                  <a:sym typeface="Krub Bold"/>
                </a:rPr>
                <a:t>Interfejs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290473" y="252379"/>
              <a:ext cx="5444534" cy="67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4"/>
                </a:lnSpc>
              </a:pPr>
              <a:r>
                <a:rPr lang="en-US" sz="3095" spc="34" b="true">
                  <a:solidFill>
                    <a:srgbClr val="FFFFFF"/>
                  </a:solidFill>
                  <a:latin typeface="Krub Bold"/>
                  <a:ea typeface="Krub Bold"/>
                  <a:cs typeface="Krub Bold"/>
                  <a:sym typeface="Krub Bold"/>
                </a:rPr>
                <a:t>Namena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2167326" y="252379"/>
              <a:ext cx="5444534" cy="67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4"/>
                </a:lnSpc>
              </a:pPr>
              <a:r>
                <a:rPr lang="en-US" sz="3095" spc="34" b="true">
                  <a:solidFill>
                    <a:srgbClr val="FFFFFF"/>
                  </a:solidFill>
                  <a:latin typeface="Krub Bold"/>
                  <a:ea typeface="Krub Bold"/>
                  <a:cs typeface="Krub Bold"/>
                  <a:sym typeface="Krub Bold"/>
                </a:rPr>
                <a:t>Adresa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0" y="0"/>
          <a:ext cx="14242390" cy="2799687"/>
        </p:xfrm>
        <a:graphic>
          <a:graphicData uri="http://schemas.openxmlformats.org/drawingml/2006/table">
            <a:tbl>
              <a:tblPr/>
              <a:tblGrid>
                <a:gridCol w="4427104"/>
                <a:gridCol w="4427104"/>
                <a:gridCol w="5388183"/>
              </a:tblGrid>
              <a:tr h="830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8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8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8A0"/>
                    </a:solidFill>
                  </a:tcPr>
                </a:tc>
              </a:tr>
              <a:tr h="955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1418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eth0 (Ethernet)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1418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Glavna mreža, DHCP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1418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Dodeljuje ruter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32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1418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usb0 (USB-C / RNDIS)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1418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Rezervni, direktan pristup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1418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192.168.1.2 (statička)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1983545" y="5751614"/>
            <a:ext cx="7962007" cy="6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>
                <a:solidFill>
                  <a:srgbClr val="143F87"/>
                </a:solidFill>
                <a:latin typeface="Krub Bold"/>
                <a:ea typeface="Krub Bold"/>
                <a:cs typeface="Krub Bold"/>
                <a:sym typeface="Krub Bold"/>
              </a:rPr>
              <a:t>Dva nezavisna mrežna interfejsa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3545" y="2355180"/>
            <a:ext cx="6057338" cy="7468297"/>
            <a:chOff x="0" y="0"/>
            <a:chExt cx="1595348" cy="1966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5348" cy="1966959"/>
            </a:xfrm>
            <a:custGeom>
              <a:avLst/>
              <a:gdLst/>
              <a:ahLst/>
              <a:cxnLst/>
              <a:rect r="r" b="b" t="t" l="l"/>
              <a:pathLst>
                <a:path h="1966959" w="1595348">
                  <a:moveTo>
                    <a:pt x="64704" y="0"/>
                  </a:moveTo>
                  <a:lnTo>
                    <a:pt x="1530644" y="0"/>
                  </a:lnTo>
                  <a:cubicBezTo>
                    <a:pt x="1566379" y="0"/>
                    <a:pt x="1595348" y="28969"/>
                    <a:pt x="1595348" y="64704"/>
                  </a:cubicBezTo>
                  <a:lnTo>
                    <a:pt x="1595348" y="1902255"/>
                  </a:lnTo>
                  <a:cubicBezTo>
                    <a:pt x="1595348" y="1937990"/>
                    <a:pt x="1566379" y="1966959"/>
                    <a:pt x="1530644" y="1966959"/>
                  </a:cubicBezTo>
                  <a:lnTo>
                    <a:pt x="64704" y="1966959"/>
                  </a:lnTo>
                  <a:cubicBezTo>
                    <a:pt x="28969" y="1966959"/>
                    <a:pt x="0" y="1937990"/>
                    <a:pt x="0" y="1902255"/>
                  </a:cubicBezTo>
                  <a:lnTo>
                    <a:pt x="0" y="64704"/>
                  </a:lnTo>
                  <a:cubicBezTo>
                    <a:pt x="0" y="28969"/>
                    <a:pt x="28969" y="0"/>
                    <a:pt x="647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5348" cy="200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525" y="-5056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20573" y="1175559"/>
            <a:ext cx="12246855" cy="89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Izbor AI modela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0514" y="3561558"/>
            <a:ext cx="4083401" cy="6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HOG detektor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7347" y="4838598"/>
            <a:ext cx="4869734" cy="40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Klasičan algoritam (OpenCV, ugrađen), brz, bez dodatnog modela</a:t>
            </a:r>
          </a:p>
          <a:p>
            <a:pPr algn="l">
              <a:lnSpc>
                <a:spcPts val="4054"/>
              </a:lnSpc>
            </a:pPr>
          </a:p>
          <a:p>
            <a:pPr algn="l" marL="625189" indent="-312595" lvl="1">
              <a:lnSpc>
                <a:spcPts val="4054"/>
              </a:lnSpc>
              <a:buFont typeface="Arial"/>
              <a:buChar char="•"/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Česte lažno pozitivne detekcije</a:t>
            </a:r>
          </a:p>
          <a:p>
            <a:pPr algn="l" marL="625189" indent="-312595" lvl="1">
              <a:lnSpc>
                <a:spcPts val="4054"/>
              </a:lnSpc>
              <a:buFont typeface="Arial"/>
              <a:buChar char="•"/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Propušta osobe koje su blizu jedna drugoj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11186" y="2355180"/>
            <a:ext cx="6057338" cy="7468297"/>
            <a:chOff x="0" y="0"/>
            <a:chExt cx="1595348" cy="19669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5348" cy="1966959"/>
            </a:xfrm>
            <a:custGeom>
              <a:avLst/>
              <a:gdLst/>
              <a:ahLst/>
              <a:cxnLst/>
              <a:rect r="r" b="b" t="t" l="l"/>
              <a:pathLst>
                <a:path h="1966959" w="1595348">
                  <a:moveTo>
                    <a:pt x="64704" y="0"/>
                  </a:moveTo>
                  <a:lnTo>
                    <a:pt x="1530644" y="0"/>
                  </a:lnTo>
                  <a:cubicBezTo>
                    <a:pt x="1566379" y="0"/>
                    <a:pt x="1595348" y="28969"/>
                    <a:pt x="1595348" y="64704"/>
                  </a:cubicBezTo>
                  <a:lnTo>
                    <a:pt x="1595348" y="1902255"/>
                  </a:lnTo>
                  <a:cubicBezTo>
                    <a:pt x="1595348" y="1937990"/>
                    <a:pt x="1566379" y="1966959"/>
                    <a:pt x="1530644" y="1966959"/>
                  </a:cubicBezTo>
                  <a:lnTo>
                    <a:pt x="64704" y="1966959"/>
                  </a:lnTo>
                  <a:cubicBezTo>
                    <a:pt x="28969" y="1966959"/>
                    <a:pt x="0" y="1937990"/>
                    <a:pt x="0" y="1902255"/>
                  </a:cubicBezTo>
                  <a:lnTo>
                    <a:pt x="0" y="64704"/>
                  </a:lnTo>
                  <a:cubicBezTo>
                    <a:pt x="0" y="28969"/>
                    <a:pt x="28969" y="0"/>
                    <a:pt x="647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95348" cy="200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898155" y="3561558"/>
            <a:ext cx="4083401" cy="6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MobileNet-SSD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39855" y="6204779"/>
            <a:ext cx="7075330" cy="6818045"/>
          </a:xfrm>
          <a:custGeom>
            <a:avLst/>
            <a:gdLst/>
            <a:ahLst/>
            <a:cxnLst/>
            <a:rect r="r" b="b" t="t" l="l"/>
            <a:pathLst>
              <a:path h="6818045" w="7075330">
                <a:moveTo>
                  <a:pt x="0" y="0"/>
                </a:moveTo>
                <a:lnTo>
                  <a:pt x="7075330" y="0"/>
                </a:lnTo>
                <a:lnTo>
                  <a:pt x="7075330" y="6818045"/>
                </a:lnTo>
                <a:lnTo>
                  <a:pt x="0" y="6818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504989" y="4838598"/>
            <a:ext cx="4869734" cy="460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Konvoluciona neuronska mreža (Caffe, PASCAL VOC), izvršava se kroz OpenCV DNN modul</a:t>
            </a:r>
          </a:p>
          <a:p>
            <a:pPr algn="l">
              <a:lnSpc>
                <a:spcPts val="4054"/>
              </a:lnSpc>
            </a:pPr>
          </a:p>
          <a:p>
            <a:pPr algn="l" marL="625189" indent="-312595" lvl="1">
              <a:lnSpc>
                <a:spcPts val="4054"/>
              </a:lnSpc>
              <a:buFont typeface="Arial"/>
              <a:buChar char="•"/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Znatno pouzdaniji od HOG-a</a:t>
            </a:r>
          </a:p>
          <a:p>
            <a:pPr algn="l" marL="625189" indent="-312595" lvl="1">
              <a:lnSpc>
                <a:spcPts val="4054"/>
              </a:lnSpc>
              <a:buFont typeface="Arial"/>
              <a:buChar char="•"/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Prag pouzdanosti: 0,5</a:t>
            </a:r>
          </a:p>
          <a:p>
            <a:pPr algn="l" marL="625189" indent="-312595" lvl="1">
              <a:lnSpc>
                <a:spcPts val="4054"/>
              </a:lnSpc>
              <a:buFont typeface="Arial"/>
              <a:buChar char="•"/>
            </a:pPr>
            <a:r>
              <a:rPr lang="en-US" sz="2895" spc="3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Ulaz: 300x300 px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31437" y="2762567"/>
            <a:ext cx="1961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C21616"/>
                </a:solidFill>
                <a:latin typeface="Krub Bold"/>
                <a:ea typeface="Krub Bold"/>
                <a:cs typeface="Krub Bold"/>
                <a:sym typeface="Krub Bold"/>
              </a:rPr>
              <a:t>ODBAČEN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94648" y="2762567"/>
            <a:ext cx="18904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66D893"/>
                </a:solidFill>
                <a:latin typeface="Krub Bold"/>
                <a:ea typeface="Krub Bold"/>
                <a:cs typeface="Krub Bold"/>
                <a:sym typeface="Krub Bold"/>
              </a:rPr>
              <a:t>USVOJEN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917" y="3076825"/>
            <a:ext cx="6916903" cy="2444630"/>
            <a:chOff x="0" y="0"/>
            <a:chExt cx="1821736" cy="643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34015" y="7458821"/>
            <a:ext cx="5924025" cy="4546689"/>
          </a:xfrm>
          <a:custGeom>
            <a:avLst/>
            <a:gdLst/>
            <a:ahLst/>
            <a:cxnLst/>
            <a:rect r="r" b="b" t="t" l="l"/>
            <a:pathLst>
              <a:path h="4546689" w="5924025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8765" y="638450"/>
            <a:ext cx="11450470" cy="173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Implementacija: obrada u realnom vremenu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2926" y="4215995"/>
            <a:ext cx="6414885" cy="103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Ručno parsiranje stream-a preko JPEG marker sekvenci (OpenCV build na uređaju nema FFmpeg podršku)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2926" y="3275947"/>
            <a:ext cx="4516934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MJPEG bez FFmpeg-a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80288" y="3086100"/>
            <a:ext cx="6916903" cy="2444630"/>
            <a:chOff x="0" y="0"/>
            <a:chExt cx="1821736" cy="6438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31298" y="4270565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Uvek se čuva samo najnoviji kadar – kašnjenje svedeno sa 10s na &lt;1s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31298" y="3275947"/>
            <a:ext cx="501193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Pozadinska nit (thread)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61917" y="6473955"/>
            <a:ext cx="6916903" cy="2444630"/>
            <a:chOff x="0" y="0"/>
            <a:chExt cx="1821736" cy="6438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12926" y="7667695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Broj osoba + FPS na kadru; iznad praga od 3 osobe – crveni tekst upozorenja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2926" y="6659420"/>
            <a:ext cx="2936974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Prikaz i alarm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80288" y="6473955"/>
            <a:ext cx="6916903" cy="2444630"/>
            <a:chOff x="0" y="0"/>
            <a:chExt cx="1821736" cy="6438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31298" y="7665894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Nema GUI podrške – rezultat ide u konzolu i čuva se kao slika na disku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31298" y="6659420"/>
            <a:ext cx="4727972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Bez ekrana (headless)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917" y="3076825"/>
            <a:ext cx="6916903" cy="2444630"/>
            <a:chOff x="0" y="0"/>
            <a:chExt cx="1821736" cy="643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34015" y="7458821"/>
            <a:ext cx="5924025" cy="4546689"/>
          </a:xfrm>
          <a:custGeom>
            <a:avLst/>
            <a:gdLst/>
            <a:ahLst/>
            <a:cxnLst/>
            <a:rect r="r" b="b" t="t" l="l"/>
            <a:pathLst>
              <a:path h="4546689" w="5924025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18765" y="1476650"/>
            <a:ext cx="11450470" cy="89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Testiranje: zapažanja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2926" y="4325533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Najbolje pri dnevnom svetlu; preciznost opada sa lošijim osvetljenjem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2926" y="3275947"/>
            <a:ext cx="2368004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Osvetljenje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80288" y="3086100"/>
            <a:ext cx="6916903" cy="2444630"/>
            <a:chOff x="0" y="0"/>
            <a:chExt cx="1821736" cy="6438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31298" y="4270565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Trenutne greške (duplo/propušteno), samoisprave se u sledećem kadru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31298" y="3275947"/>
            <a:ext cx="3907185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Preklapanje osoba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61917" y="6473955"/>
            <a:ext cx="6916903" cy="2444630"/>
            <a:chOff x="0" y="0"/>
            <a:chExt cx="1821736" cy="6438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12926" y="7656369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Mora biti uspravna – u landscape položaju detekcija ne radi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2926" y="6659420"/>
            <a:ext cx="422180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Orijentacija kamere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80288" y="6473955"/>
            <a:ext cx="6916903" cy="2444630"/>
            <a:chOff x="0" y="0"/>
            <a:chExt cx="1821736" cy="6438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1736" cy="643853"/>
            </a:xfrm>
            <a:custGeom>
              <a:avLst/>
              <a:gdLst/>
              <a:ahLst/>
              <a:cxnLst/>
              <a:rect r="r" b="b" t="t" l="l"/>
              <a:pathLst>
                <a:path h="643853" w="1821736">
                  <a:moveTo>
                    <a:pt x="56663" y="0"/>
                  </a:moveTo>
                  <a:lnTo>
                    <a:pt x="1765072" y="0"/>
                  </a:lnTo>
                  <a:cubicBezTo>
                    <a:pt x="1796367" y="0"/>
                    <a:pt x="1821736" y="25369"/>
                    <a:pt x="1821736" y="56663"/>
                  </a:cubicBezTo>
                  <a:lnTo>
                    <a:pt x="1821736" y="587190"/>
                  </a:lnTo>
                  <a:cubicBezTo>
                    <a:pt x="1821736" y="602218"/>
                    <a:pt x="1815766" y="616630"/>
                    <a:pt x="1805140" y="627257"/>
                  </a:cubicBezTo>
                  <a:cubicBezTo>
                    <a:pt x="1794513" y="637883"/>
                    <a:pt x="1780101" y="643853"/>
                    <a:pt x="1765072" y="643853"/>
                  </a:cubicBezTo>
                  <a:lnTo>
                    <a:pt x="56663" y="643853"/>
                  </a:lnTo>
                  <a:cubicBezTo>
                    <a:pt x="25369" y="643853"/>
                    <a:pt x="0" y="618484"/>
                    <a:pt x="0" y="587190"/>
                  </a:cubicBezTo>
                  <a:lnTo>
                    <a:pt x="0" y="56663"/>
                  </a:lnTo>
                  <a:cubicBezTo>
                    <a:pt x="0" y="25369"/>
                    <a:pt x="25369" y="0"/>
                    <a:pt x="566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21736" cy="681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31298" y="7656369"/>
            <a:ext cx="6414885" cy="68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995" spc="21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Veća rezolucija povremeno dovodi do pada programa – uzrok nije utvrđen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05352" y="6659420"/>
            <a:ext cx="355907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BEBE"/>
                </a:solidFill>
                <a:latin typeface="Krub Bold"/>
                <a:ea typeface="Krub Bold"/>
                <a:cs typeface="Krub Bold"/>
                <a:sym typeface="Krub Bold"/>
              </a:rPr>
              <a:t>Otvoreno pitanje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9855" y="2570661"/>
            <a:ext cx="16829445" cy="2848591"/>
            <a:chOff x="0" y="0"/>
            <a:chExt cx="4432446" cy="7502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2447" cy="750246"/>
            </a:xfrm>
            <a:custGeom>
              <a:avLst/>
              <a:gdLst/>
              <a:ahLst/>
              <a:cxnLst/>
              <a:rect r="r" b="b" t="t" l="l"/>
              <a:pathLst>
                <a:path h="750246" w="4432447">
                  <a:moveTo>
                    <a:pt x="23289" y="0"/>
                  </a:moveTo>
                  <a:lnTo>
                    <a:pt x="4409158" y="0"/>
                  </a:lnTo>
                  <a:cubicBezTo>
                    <a:pt x="4422020" y="0"/>
                    <a:pt x="4432447" y="10427"/>
                    <a:pt x="4432447" y="23289"/>
                  </a:cubicBezTo>
                  <a:lnTo>
                    <a:pt x="4432447" y="726958"/>
                  </a:lnTo>
                  <a:cubicBezTo>
                    <a:pt x="4432447" y="739819"/>
                    <a:pt x="4422020" y="750246"/>
                    <a:pt x="4409158" y="750246"/>
                  </a:cubicBezTo>
                  <a:lnTo>
                    <a:pt x="23289" y="750246"/>
                  </a:lnTo>
                  <a:cubicBezTo>
                    <a:pt x="10427" y="750246"/>
                    <a:pt x="0" y="739819"/>
                    <a:pt x="0" y="726958"/>
                  </a:cubicBezTo>
                  <a:lnTo>
                    <a:pt x="0" y="23289"/>
                  </a:lnTo>
                  <a:cubicBezTo>
                    <a:pt x="0" y="10427"/>
                    <a:pt x="10427" y="0"/>
                    <a:pt x="232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2446" cy="788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525" y="-5056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39855" y="6204779"/>
            <a:ext cx="7075330" cy="6818045"/>
          </a:xfrm>
          <a:custGeom>
            <a:avLst/>
            <a:gdLst/>
            <a:ahLst/>
            <a:cxnLst/>
            <a:rect r="r" b="b" t="t" l="l"/>
            <a:pathLst>
              <a:path h="6818045" w="7075330">
                <a:moveTo>
                  <a:pt x="0" y="0"/>
                </a:moveTo>
                <a:lnTo>
                  <a:pt x="7075330" y="0"/>
                </a:lnTo>
                <a:lnTo>
                  <a:pt x="7075330" y="6818045"/>
                </a:lnTo>
                <a:lnTo>
                  <a:pt x="0" y="6818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71030" y="1175559"/>
            <a:ext cx="6545941" cy="89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Izazovi i rešenja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5471" y="3189394"/>
            <a:ext cx="12192459" cy="6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NPU softverski stek nedostupan - EAR ograničenja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619" y="4190699"/>
            <a:ext cx="16148697" cy="81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395" spc="26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Huawei-jev drajver/CANN paket za Ascend 310 je pod izvoznim ograničenjima (EAR). Uz saglasnost profesora, sistem je realizovan bez NPU akceleracije – izvršava se na CPU-u.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56205"/>
            <a:ext cx="2527995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C21616"/>
                </a:solidFill>
                <a:latin typeface="Krub Bold"/>
                <a:ea typeface="Krub Bold"/>
                <a:cs typeface="Krub Bold"/>
                <a:sym typeface="Krub Bold"/>
              </a:rPr>
              <a:t>Najveći izazov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9855" y="5533552"/>
            <a:ext cx="5286056" cy="4080250"/>
            <a:chOff x="0" y="0"/>
            <a:chExt cx="1392212" cy="10746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2212" cy="1074634"/>
            </a:xfrm>
            <a:custGeom>
              <a:avLst/>
              <a:gdLst/>
              <a:ahLst/>
              <a:cxnLst/>
              <a:rect r="r" b="b" t="t" l="l"/>
              <a:pathLst>
                <a:path h="1074634" w="1392212">
                  <a:moveTo>
                    <a:pt x="74145" y="0"/>
                  </a:moveTo>
                  <a:lnTo>
                    <a:pt x="1318067" y="0"/>
                  </a:lnTo>
                  <a:cubicBezTo>
                    <a:pt x="1337732" y="0"/>
                    <a:pt x="1356591" y="7812"/>
                    <a:pt x="1370496" y="21717"/>
                  </a:cubicBezTo>
                  <a:cubicBezTo>
                    <a:pt x="1384401" y="35621"/>
                    <a:pt x="1392212" y="54481"/>
                    <a:pt x="1392212" y="74145"/>
                  </a:cubicBezTo>
                  <a:lnTo>
                    <a:pt x="1392212" y="1000489"/>
                  </a:lnTo>
                  <a:cubicBezTo>
                    <a:pt x="1392212" y="1020153"/>
                    <a:pt x="1384401" y="1039012"/>
                    <a:pt x="1370496" y="1052917"/>
                  </a:cubicBezTo>
                  <a:cubicBezTo>
                    <a:pt x="1356591" y="1066822"/>
                    <a:pt x="1337732" y="1074634"/>
                    <a:pt x="1318067" y="1074634"/>
                  </a:cubicBezTo>
                  <a:lnTo>
                    <a:pt x="74145" y="1074634"/>
                  </a:lnTo>
                  <a:cubicBezTo>
                    <a:pt x="54481" y="1074634"/>
                    <a:pt x="35621" y="1066822"/>
                    <a:pt x="21717" y="1052917"/>
                  </a:cubicBezTo>
                  <a:cubicBezTo>
                    <a:pt x="7812" y="1039012"/>
                    <a:pt x="0" y="1020153"/>
                    <a:pt x="0" y="1000489"/>
                  </a:cubicBezTo>
                  <a:lnTo>
                    <a:pt x="0" y="74145"/>
                  </a:lnTo>
                  <a:cubicBezTo>
                    <a:pt x="0" y="54481"/>
                    <a:pt x="7812" y="35621"/>
                    <a:pt x="21717" y="21717"/>
                  </a:cubicBezTo>
                  <a:cubicBezTo>
                    <a:pt x="35621" y="7812"/>
                    <a:pt x="54481" y="0"/>
                    <a:pt x="741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92212" cy="1112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50303" y="5771677"/>
            <a:ext cx="4845161" cy="126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214184"/>
                </a:solidFill>
                <a:latin typeface="Krub Bold"/>
                <a:ea typeface="Krub Bold"/>
                <a:cs typeface="Krub Bold"/>
                <a:sym typeface="Krub Bold"/>
              </a:rPr>
              <a:t>Nestabilna USB-C mreža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619" y="7593276"/>
            <a:ext cx="4157119" cy="123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395" spc="26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R</a:t>
            </a:r>
            <a:r>
              <a:rPr lang="en-US" sz="2395" spc="26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ešeno prelaskom na Ethernet/DHCP kao glavni put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56940" y="5533552"/>
            <a:ext cx="5286056" cy="4080250"/>
            <a:chOff x="0" y="0"/>
            <a:chExt cx="1392212" cy="1074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2212" cy="1074634"/>
            </a:xfrm>
            <a:custGeom>
              <a:avLst/>
              <a:gdLst/>
              <a:ahLst/>
              <a:cxnLst/>
              <a:rect r="r" b="b" t="t" l="l"/>
              <a:pathLst>
                <a:path h="1074634" w="1392212">
                  <a:moveTo>
                    <a:pt x="74145" y="0"/>
                  </a:moveTo>
                  <a:lnTo>
                    <a:pt x="1318067" y="0"/>
                  </a:lnTo>
                  <a:cubicBezTo>
                    <a:pt x="1337732" y="0"/>
                    <a:pt x="1356591" y="7812"/>
                    <a:pt x="1370496" y="21717"/>
                  </a:cubicBezTo>
                  <a:cubicBezTo>
                    <a:pt x="1384401" y="35621"/>
                    <a:pt x="1392212" y="54481"/>
                    <a:pt x="1392212" y="74145"/>
                  </a:cubicBezTo>
                  <a:lnTo>
                    <a:pt x="1392212" y="1000489"/>
                  </a:lnTo>
                  <a:cubicBezTo>
                    <a:pt x="1392212" y="1020153"/>
                    <a:pt x="1384401" y="1039012"/>
                    <a:pt x="1370496" y="1052917"/>
                  </a:cubicBezTo>
                  <a:cubicBezTo>
                    <a:pt x="1356591" y="1066822"/>
                    <a:pt x="1337732" y="1074634"/>
                    <a:pt x="1318067" y="1074634"/>
                  </a:cubicBezTo>
                  <a:lnTo>
                    <a:pt x="74145" y="1074634"/>
                  </a:lnTo>
                  <a:cubicBezTo>
                    <a:pt x="54481" y="1074634"/>
                    <a:pt x="35621" y="1066822"/>
                    <a:pt x="21717" y="1052917"/>
                  </a:cubicBezTo>
                  <a:cubicBezTo>
                    <a:pt x="7812" y="1039012"/>
                    <a:pt x="0" y="1020153"/>
                    <a:pt x="0" y="1000489"/>
                  </a:cubicBezTo>
                  <a:lnTo>
                    <a:pt x="0" y="74145"/>
                  </a:lnTo>
                  <a:cubicBezTo>
                    <a:pt x="0" y="54481"/>
                    <a:pt x="7812" y="35621"/>
                    <a:pt x="21717" y="21717"/>
                  </a:cubicBezTo>
                  <a:cubicBezTo>
                    <a:pt x="35621" y="7812"/>
                    <a:pt x="54481" y="0"/>
                    <a:pt x="741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2212" cy="1112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77387" y="5771677"/>
            <a:ext cx="4845161" cy="126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214184"/>
                </a:solidFill>
                <a:latin typeface="Krub Bold"/>
                <a:ea typeface="Krub Bold"/>
                <a:cs typeface="Krub Bold"/>
                <a:sym typeface="Krub Bold"/>
              </a:rPr>
              <a:t>Nema GUI na uređaju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52704" y="7802826"/>
            <a:ext cx="4157119" cy="81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395" spc="26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R</a:t>
            </a:r>
            <a:r>
              <a:rPr lang="en-US" sz="2395" spc="26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ešeno konzolnim ispisom i čuvanjem kadrova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04995" y="5533552"/>
            <a:ext cx="5286056" cy="4080250"/>
            <a:chOff x="0" y="0"/>
            <a:chExt cx="1392212" cy="10746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92212" cy="1074634"/>
            </a:xfrm>
            <a:custGeom>
              <a:avLst/>
              <a:gdLst/>
              <a:ahLst/>
              <a:cxnLst/>
              <a:rect r="r" b="b" t="t" l="l"/>
              <a:pathLst>
                <a:path h="1074634" w="1392212">
                  <a:moveTo>
                    <a:pt x="74145" y="0"/>
                  </a:moveTo>
                  <a:lnTo>
                    <a:pt x="1318067" y="0"/>
                  </a:lnTo>
                  <a:cubicBezTo>
                    <a:pt x="1337732" y="0"/>
                    <a:pt x="1356591" y="7812"/>
                    <a:pt x="1370496" y="21717"/>
                  </a:cubicBezTo>
                  <a:cubicBezTo>
                    <a:pt x="1384401" y="35621"/>
                    <a:pt x="1392212" y="54481"/>
                    <a:pt x="1392212" y="74145"/>
                  </a:cubicBezTo>
                  <a:lnTo>
                    <a:pt x="1392212" y="1000489"/>
                  </a:lnTo>
                  <a:cubicBezTo>
                    <a:pt x="1392212" y="1020153"/>
                    <a:pt x="1384401" y="1039012"/>
                    <a:pt x="1370496" y="1052917"/>
                  </a:cubicBezTo>
                  <a:cubicBezTo>
                    <a:pt x="1356591" y="1066822"/>
                    <a:pt x="1337732" y="1074634"/>
                    <a:pt x="1318067" y="1074634"/>
                  </a:cubicBezTo>
                  <a:lnTo>
                    <a:pt x="74145" y="1074634"/>
                  </a:lnTo>
                  <a:cubicBezTo>
                    <a:pt x="54481" y="1074634"/>
                    <a:pt x="35621" y="1066822"/>
                    <a:pt x="21717" y="1052917"/>
                  </a:cubicBezTo>
                  <a:cubicBezTo>
                    <a:pt x="7812" y="1039012"/>
                    <a:pt x="0" y="1020153"/>
                    <a:pt x="0" y="1000489"/>
                  </a:cubicBezTo>
                  <a:lnTo>
                    <a:pt x="0" y="74145"/>
                  </a:lnTo>
                  <a:cubicBezTo>
                    <a:pt x="0" y="54481"/>
                    <a:pt x="7812" y="35621"/>
                    <a:pt x="21717" y="21717"/>
                  </a:cubicBezTo>
                  <a:cubicBezTo>
                    <a:pt x="35621" y="7812"/>
                    <a:pt x="54481" y="0"/>
                    <a:pt x="741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92212" cy="1112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525443" y="5771677"/>
            <a:ext cx="4845161" cy="126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4"/>
              </a:lnSpc>
            </a:pPr>
            <a:r>
              <a:rPr lang="en-US" b="true" sz="3695" spc="40">
                <a:solidFill>
                  <a:srgbClr val="214184"/>
                </a:solidFill>
                <a:latin typeface="Krub Bold"/>
                <a:ea typeface="Krub Bold"/>
                <a:cs typeface="Krub Bold"/>
                <a:sym typeface="Krub Bold"/>
              </a:rPr>
              <a:t>V</a:t>
            </a:r>
            <a:r>
              <a:rPr lang="en-US" b="true" sz="3695" spc="40">
                <a:solidFill>
                  <a:srgbClr val="214184"/>
                </a:solidFill>
                <a:latin typeface="Krub Bold"/>
                <a:ea typeface="Krub Bold"/>
                <a:cs typeface="Krub Bold"/>
                <a:sym typeface="Krub Bold"/>
              </a:rPr>
              <a:t>erzijski konflikti (PC)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00759" y="7802826"/>
            <a:ext cx="4157119" cy="81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395" spc="26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R</a:t>
            </a:r>
            <a:r>
              <a:rPr lang="en-US" sz="2395" spc="26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ešeno paralelnom instalacijom Python 3.11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97199" y="1171575"/>
            <a:ext cx="11893601" cy="89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Zaključak i moguća unapređenja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40720" y="2710917"/>
            <a:ext cx="5885328" cy="6116787"/>
            <a:chOff x="0" y="0"/>
            <a:chExt cx="1550045" cy="16110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0045" cy="1611006"/>
            </a:xfrm>
            <a:custGeom>
              <a:avLst/>
              <a:gdLst/>
              <a:ahLst/>
              <a:cxnLst/>
              <a:rect r="r" b="b" t="t" l="l"/>
              <a:pathLst>
                <a:path h="1611006" w="1550045">
                  <a:moveTo>
                    <a:pt x="66595" y="0"/>
                  </a:moveTo>
                  <a:lnTo>
                    <a:pt x="1483450" y="0"/>
                  </a:lnTo>
                  <a:cubicBezTo>
                    <a:pt x="1501112" y="0"/>
                    <a:pt x="1518051" y="7016"/>
                    <a:pt x="1530540" y="19505"/>
                  </a:cubicBezTo>
                  <a:cubicBezTo>
                    <a:pt x="1543029" y="31994"/>
                    <a:pt x="1550045" y="48933"/>
                    <a:pt x="1550045" y="66595"/>
                  </a:cubicBezTo>
                  <a:lnTo>
                    <a:pt x="1550045" y="1544410"/>
                  </a:lnTo>
                  <a:cubicBezTo>
                    <a:pt x="1550045" y="1562073"/>
                    <a:pt x="1543029" y="1579011"/>
                    <a:pt x="1530540" y="1591500"/>
                  </a:cubicBezTo>
                  <a:cubicBezTo>
                    <a:pt x="1518051" y="1603989"/>
                    <a:pt x="1501112" y="1611006"/>
                    <a:pt x="1483450" y="1611006"/>
                  </a:cubicBezTo>
                  <a:lnTo>
                    <a:pt x="66595" y="1611006"/>
                  </a:lnTo>
                  <a:cubicBezTo>
                    <a:pt x="48933" y="1611006"/>
                    <a:pt x="31994" y="1603989"/>
                    <a:pt x="19505" y="1591500"/>
                  </a:cubicBezTo>
                  <a:cubicBezTo>
                    <a:pt x="7016" y="1579011"/>
                    <a:pt x="0" y="1562073"/>
                    <a:pt x="0" y="1544410"/>
                  </a:cubicBezTo>
                  <a:lnTo>
                    <a:pt x="0" y="66595"/>
                  </a:lnTo>
                  <a:cubicBezTo>
                    <a:pt x="0" y="48933"/>
                    <a:pt x="7016" y="31994"/>
                    <a:pt x="19505" y="19505"/>
                  </a:cubicBezTo>
                  <a:cubicBezTo>
                    <a:pt x="31994" y="7016"/>
                    <a:pt x="48933" y="0"/>
                    <a:pt x="665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50045" cy="164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34015" y="7458821"/>
            <a:ext cx="5924025" cy="4546689"/>
          </a:xfrm>
          <a:custGeom>
            <a:avLst/>
            <a:gdLst/>
            <a:ahLst/>
            <a:cxnLst/>
            <a:rect r="r" b="b" t="t" l="l"/>
            <a:pathLst>
              <a:path h="4546689" w="5924025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565143" y="2710917"/>
            <a:ext cx="6220652" cy="6116787"/>
            <a:chOff x="0" y="0"/>
            <a:chExt cx="1638361" cy="16110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8361" cy="1611006"/>
            </a:xfrm>
            <a:custGeom>
              <a:avLst/>
              <a:gdLst/>
              <a:ahLst/>
              <a:cxnLst/>
              <a:rect r="r" b="b" t="t" l="l"/>
              <a:pathLst>
                <a:path h="1611006" w="1638361">
                  <a:moveTo>
                    <a:pt x="63005" y="0"/>
                  </a:moveTo>
                  <a:lnTo>
                    <a:pt x="1575356" y="0"/>
                  </a:lnTo>
                  <a:cubicBezTo>
                    <a:pt x="1592066" y="0"/>
                    <a:pt x="1608091" y="6638"/>
                    <a:pt x="1619907" y="18454"/>
                  </a:cubicBezTo>
                  <a:cubicBezTo>
                    <a:pt x="1631723" y="30270"/>
                    <a:pt x="1638361" y="46295"/>
                    <a:pt x="1638361" y="63005"/>
                  </a:cubicBezTo>
                  <a:lnTo>
                    <a:pt x="1638361" y="1548000"/>
                  </a:lnTo>
                  <a:cubicBezTo>
                    <a:pt x="1638361" y="1564710"/>
                    <a:pt x="1631723" y="1580736"/>
                    <a:pt x="1619907" y="1592552"/>
                  </a:cubicBezTo>
                  <a:cubicBezTo>
                    <a:pt x="1608091" y="1604368"/>
                    <a:pt x="1592066" y="1611006"/>
                    <a:pt x="1575356" y="1611006"/>
                  </a:cubicBezTo>
                  <a:lnTo>
                    <a:pt x="63005" y="1611006"/>
                  </a:lnTo>
                  <a:cubicBezTo>
                    <a:pt x="28208" y="1611006"/>
                    <a:pt x="0" y="1582797"/>
                    <a:pt x="0" y="1548000"/>
                  </a:cubicBezTo>
                  <a:lnTo>
                    <a:pt x="0" y="63005"/>
                  </a:lnTo>
                  <a:cubicBezTo>
                    <a:pt x="0" y="28208"/>
                    <a:pt x="28208" y="0"/>
                    <a:pt x="630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38361" cy="164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78885" y="-102870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828710" y="822960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1606912" y="-134353"/>
            <a:ext cx="7147278" cy="3993541"/>
          </a:xfrm>
          <a:custGeom>
            <a:avLst/>
            <a:gdLst/>
            <a:ahLst/>
            <a:cxnLst/>
            <a:rect r="r" b="b" t="t" l="l"/>
            <a:pathLst>
              <a:path h="3993541" w="7147278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51616" y="4314728"/>
            <a:ext cx="4628057" cy="35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Detekcija i brojanje osoba, lokalno na uređaju</a:t>
            </a:r>
          </a:p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 Prikaz pouzdanosti, broja osoba, FPS-a</a:t>
            </a:r>
          </a:p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 Alarm pri prekoračenju praga</a:t>
            </a:r>
          </a:p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 Testirano pri različitom broju osoba i osvetljenju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2772" y="3028950"/>
            <a:ext cx="200575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66D893"/>
                </a:solidFill>
                <a:latin typeface="Krub Bold"/>
                <a:ea typeface="Krub Bold"/>
                <a:cs typeface="Krub Bold"/>
                <a:sym typeface="Krub Bold"/>
              </a:rPr>
              <a:t>Ostvareno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3182" y="4154213"/>
            <a:ext cx="5664575" cy="26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NPU akceleracija (kada bude dostupna) </a:t>
            </a:r>
          </a:p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Fizički alarm (zvuk / LED) </a:t>
            </a:r>
          </a:p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Precizniji model (npr. YOLO) </a:t>
            </a:r>
          </a:p>
          <a:p>
            <a:pPr algn="l" marL="544928" indent="-272464" lvl="1">
              <a:lnSpc>
                <a:spcPts val="3533"/>
              </a:lnSpc>
              <a:buFont typeface="Arial"/>
              <a:buChar char="•"/>
            </a:pPr>
            <a:r>
              <a:rPr lang="en-US" sz="2523" spc="27">
                <a:solidFill>
                  <a:srgbClr val="214184"/>
                </a:solidFill>
                <a:latin typeface="Krub"/>
                <a:ea typeface="Krub"/>
                <a:cs typeface="Krub"/>
                <a:sym typeface="Krub"/>
              </a:rPr>
              <a:t>Direktna USB kamera umesto telefona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77852" y="3028950"/>
            <a:ext cx="409917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669CD"/>
                </a:solidFill>
                <a:latin typeface="Krub Bold"/>
                <a:ea typeface="Krub Bold"/>
                <a:cs typeface="Krub Bold"/>
                <a:sym typeface="Krub Bold"/>
              </a:rPr>
              <a:t>Moguća unapređenja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6319" y="2337488"/>
            <a:ext cx="10486600" cy="506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16"/>
              </a:lnSpc>
            </a:pPr>
            <a:r>
              <a:rPr lang="en-US" sz="16407">
                <a:solidFill>
                  <a:srgbClr val="090147"/>
                </a:solidFill>
                <a:latin typeface="Anton"/>
                <a:ea typeface="Anton"/>
                <a:cs typeface="Anton"/>
                <a:sym typeface="Anton"/>
              </a:rPr>
              <a:t>Hvala na pažnji!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52637" y="-721895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8884" y="7041092"/>
            <a:ext cx="5174922" cy="5172766"/>
          </a:xfrm>
          <a:custGeom>
            <a:avLst/>
            <a:gdLst/>
            <a:ahLst/>
            <a:cxnLst/>
            <a:rect r="r" b="b" t="t" l="l"/>
            <a:pathLst>
              <a:path h="5172766" w="5174922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22918" y="4783378"/>
            <a:ext cx="6733446" cy="7030847"/>
          </a:xfrm>
          <a:custGeom>
            <a:avLst/>
            <a:gdLst/>
            <a:ahLst/>
            <a:cxnLst/>
            <a:rect r="r" b="b" t="t" l="l"/>
            <a:pathLst>
              <a:path h="7030847" w="6733446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82600" y="-1557683"/>
            <a:ext cx="5174922" cy="5172766"/>
          </a:xfrm>
          <a:custGeom>
            <a:avLst/>
            <a:gdLst/>
            <a:ahLst/>
            <a:cxnLst/>
            <a:rect r="r" b="b" t="t" l="l"/>
            <a:pathLst>
              <a:path h="5172766" w="5174922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00712" y="-1889926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321493">
            <a:off x="6300712" y="8352127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DAHWmnOLHCM</dc:identifier>
  <dcterms:modified xsi:type="dcterms:W3CDTF">2011-08-01T06:04:30Z</dcterms:modified>
  <cp:revision>1</cp:revision>
  <dc:title>Edge AI sistem za detekciju i brojanje osoba</dc:title>
</cp:coreProperties>
</file>